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9000" cy="54900"/>
          </a:xfrm>
          <a:prstGeom prst="rect">
            <a:avLst/>
          </a:prstGeom>
          <a:solidFill>
            <a:srgbClr val="1E82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40080" y="228600"/>
            <a:ext cx="108813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DELIVERABLE 3 · COMPSCI-603</a:t>
            </a:r>
            <a:endParaRPr b="1" sz="13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621792"/>
            <a:ext cx="10881300" cy="144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Pick-and-Transport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the DJI RoboMaster EP Core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2121408"/>
            <a:ext cx="10881300" cy="35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ROS 2 Humble · camera marker detection · ToF reactive avoidance · arm / gripper actions</a:t>
            </a:r>
            <a:endParaRPr b="0" sz="17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40080" y="2798064"/>
            <a:ext cx="108813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2852928"/>
            <a:ext cx="108813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Jeet Patel · Linfeng Lyu · Piyush Maheshwari · Shivraj Bhatti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Team intro · COMPSCI-603 GP-D3 · 1 / 12</a:t>
            </a:r>
            <a:endParaRPr b="0" sz="10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457200" y="219456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Change in plans: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7200" y="1170432"/>
            <a:ext cx="112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4458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000" u="none" cap="none" strike="noStrike">
                <a:solidFill>
                  <a:srgbClr val="224458"/>
                </a:solidFill>
                <a:latin typeface="Calibri"/>
                <a:ea typeface="Calibri"/>
                <a:cs typeface="Calibri"/>
                <a:sym typeface="Calibri"/>
              </a:rPr>
              <a:t>roject framing  ·  COMPSCI-603 GP-D3  ·  2 / 12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457200" y="1676400"/>
            <a:ext cx="11277600" cy="4381500"/>
            <a:chOff x="457200" y="1676400"/>
            <a:chExt cx="11277600" cy="4381500"/>
          </a:xfrm>
        </p:grpSpPr>
        <p:sp>
          <p:nvSpPr>
            <p:cNvPr id="103" name="Google Shape;103;p14"/>
            <p:cNvSpPr/>
            <p:nvPr/>
          </p:nvSpPr>
          <p:spPr>
            <a:xfrm>
              <a:off x="457200" y="1676400"/>
              <a:ext cx="5524500" cy="4381500"/>
            </a:xfrm>
            <a:prstGeom prst="roundRect">
              <a:avLst>
                <a:gd fmla="val 2608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6210300" y="1676400"/>
              <a:ext cx="5524500" cy="4381500"/>
            </a:xfrm>
            <a:prstGeom prst="roundRect">
              <a:avLst>
                <a:gd fmla="val 2608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47700" y="18669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4A728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647700" y="18961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A728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2000">
                <a:solidFill>
                  <a:srgbClr val="4A728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6400800" y="18669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1E8298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400800" y="18961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E82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000">
                <a:solidFill>
                  <a:srgbClr val="1E82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09" name="Google Shape;109;p14"/>
          <p:cNvSpPr txBox="1"/>
          <p:nvPr/>
        </p:nvSpPr>
        <p:spPr>
          <a:xfrm>
            <a:off x="1143000" y="1866900"/>
            <a:ext cx="4572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Before - Triton</a:t>
            </a:r>
            <a:endParaRPr b="1" sz="1800">
              <a:solidFill>
                <a:srgbClr val="4A72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896100" y="1866900"/>
            <a:ext cx="4572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Now - DJI EP Core</a:t>
            </a:r>
            <a:endParaRPr b="1" sz="18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42950" y="2381250"/>
            <a:ext cx="4953000" cy="18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ROS 1 Noetic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RPLIDAR + RealSense + wheel odometry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GMapping + move_base + TEB planner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Jetson Nano onboard compute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-US" sz="14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Map-first: build a map, then plan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496050" y="2381250"/>
            <a:ext cx="4953000" cy="18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ROS 2 Humble, off-board laptop / VM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RGB camera + ToF sensor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Marker-based visual servoing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Arm and gripper via action servers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-US" sz="1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No LiDAR → local cues + FSM instead</a:t>
            </a:r>
            <a:endParaRPr b="0"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57200" y="6096000"/>
            <a:ext cx="11274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Key consequence: no 2-D LiDAR means no SLAM pipeline</a:t>
            </a:r>
            <a:r>
              <a:rPr i="1"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the robot reacts to what it sees (markers, ToF distance) rather than occupancy map.</a:t>
            </a:r>
            <a:endParaRPr b="0" i="1" sz="13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DJI RoboMaster EP Core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57200" y="1170432"/>
            <a:ext cx="112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Compute runs off-board over Wi-Fi; the robot handles low-level execution.</a:t>
            </a:r>
            <a:endParaRPr b="0" i="1" sz="15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hardware · COMPSCI-603 GP-D3 · 3 / 12</a:t>
            </a:r>
            <a:endParaRPr b="0" sz="10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57200" y="1719072"/>
            <a:ext cx="11274600" cy="7497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13232" y="1810512"/>
            <a:ext cx="29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RGB camera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840480" y="1810512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/camera/image_color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589520" y="1810512"/>
            <a:ext cx="3931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marker detection and visual servoing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57200" y="2523744"/>
            <a:ext cx="11274600" cy="7497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13232" y="2615184"/>
            <a:ext cx="29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ToF sensor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840480" y="2615184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/range_0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589520" y="2615184"/>
            <a:ext cx="3931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forward distance - emergency stop trigger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57200" y="3328415"/>
            <a:ext cx="11274600" cy="7497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13232" y="3419856"/>
            <a:ext cx="29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Omnidirectional chassis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840480" y="3419856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/cmd_vel  (x / y / yaw)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589520" y="3419856"/>
            <a:ext cx="3931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holonomic drive - no turning in place needed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4133087"/>
            <a:ext cx="11274600" cy="7497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13232" y="4224527"/>
            <a:ext cx="29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Arm + gripper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840480" y="4224527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MoveArm / GripperControl actions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589520" y="4224528"/>
            <a:ext cx="3931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pick, carry, and place sequences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57200" y="4937760"/>
            <a:ext cx="11274600" cy="7497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13232" y="5029200"/>
            <a:ext cx="29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Off-board laptop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840480" y="5029200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ROS 2 Humble + robomaster_ros driver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589520" y="5029200"/>
            <a:ext cx="3931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all high-level logic runs here over AP mode</a:t>
            </a:r>
            <a:endParaRPr b="0" sz="14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ROS 2 node graph</a:t>
            </a: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2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 perception feeds task controller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rchitecture · COMPSCI-603 GP-D3 · 4 / 12</a:t>
            </a:r>
            <a:endParaRPr b="0" sz="10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075688" y="1737360"/>
            <a:ext cx="8046600" cy="658500"/>
          </a:xfrm>
          <a:prstGeom prst="rect">
            <a:avLst/>
          </a:prstGeom>
          <a:solidFill>
            <a:srgbClr val="183040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2276856" y="182880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RoboMaster driver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001768" y="1828800"/>
            <a:ext cx="4846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robomaster_ros</a:t>
            </a:r>
            <a:endParaRPr b="0"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089904" y="2414016"/>
            <a:ext cx="18300" cy="201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44184" y="2578608"/>
            <a:ext cx="109800" cy="549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075688" y="2615184"/>
            <a:ext cx="8046600" cy="658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2276856" y="2706624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Perception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001768" y="2706624"/>
            <a:ext cx="4846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vision.py: ArUco (solvePnP) · people_avoidance.py: person tracking</a:t>
            </a:r>
            <a:endParaRPr b="0"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089904" y="3291840"/>
            <a:ext cx="18300" cy="201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044184" y="3456432"/>
            <a:ext cx="109800" cy="549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075688" y="3493008"/>
            <a:ext cx="8046600" cy="658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276856" y="3584448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5001768" y="3584448"/>
            <a:ext cx="4846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obstacle.py + people_avoidance.py · ToF threshold + bypass states</a:t>
            </a:r>
            <a:endParaRPr b="0"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089904" y="4169663"/>
            <a:ext cx="18300" cy="201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044184" y="4334255"/>
            <a:ext cx="109800" cy="549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075688" y="4370831"/>
            <a:ext cx="8046600" cy="658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2276856" y="4462271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State machine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001768" y="4462272"/>
            <a:ext cx="4846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main.py · Search → Approach → Pick → Navigate → Avoid → Place</a:t>
            </a:r>
            <a:endParaRPr b="0"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089904" y="5047487"/>
            <a:ext cx="18300" cy="201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044184" y="5212079"/>
            <a:ext cx="109800" cy="549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2075688" y="5248656"/>
            <a:ext cx="8046600" cy="658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2276856" y="5340096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Actuation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5001768" y="5340096"/>
            <a:ext cx="48462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chassis_control.py + arm_control.py · /cmd_vel + action servers</a:t>
            </a:r>
            <a:endParaRPr b="0"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0332720" y="1737360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Source modules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0332720" y="2084832"/>
            <a:ext cx="16458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main.py</a:t>
            </a:r>
            <a:endParaRPr b="0" sz="1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0332720" y="2633472"/>
            <a:ext cx="16458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vision.py</a:t>
            </a:r>
            <a:endParaRPr b="0" sz="1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10332720" y="3182112"/>
            <a:ext cx="16458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obstacle.py</a:t>
            </a:r>
            <a:endParaRPr b="0" sz="1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0332720" y="3730752"/>
            <a:ext cx="16458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chassis_control.py</a:t>
            </a:r>
            <a:endParaRPr b="0" sz="1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0332720" y="4279392"/>
            <a:ext cx="1645800" cy="27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arm_control.py</a:t>
            </a:r>
            <a:endParaRPr b="0" sz="1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10332720" y="4828032"/>
            <a:ext cx="1645800" cy="24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people_avoidance.py</a:t>
            </a:r>
            <a:endParaRPr b="0" sz="102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PERCEPTION</a:t>
            </a:r>
            <a:endParaRPr b="1" sz="11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Camera frames → task cues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57200" y="1170432"/>
            <a:ext cx="112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Marker identity tells the state machine what goal it sees; geometry drives approach / alignment.</a:t>
            </a:r>
            <a:endParaRPr i="1" sz="15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erception · COMPSCI-603 GP-D3 · 5 / 12</a:t>
            </a:r>
            <a:endParaRPr sz="10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48640" y="1828800"/>
            <a:ext cx="2560200" cy="12801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731520" y="1965960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108946" y="2459574"/>
            <a:ext cx="470700" cy="27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731520" y="2331720"/>
            <a:ext cx="2286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OpenCV ArUco or</a:t>
            </a:r>
            <a:b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RoboMaster /vision</a:t>
            </a:r>
            <a:endParaRPr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488155" y="2423128"/>
            <a:ext cx="91500" cy="915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3575304" y="1828800"/>
            <a:ext cx="2560200" cy="12801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3758184" y="1965960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3758184" y="2331720"/>
            <a:ext cx="2286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Marker center, area,</a:t>
            </a:r>
            <a:b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pose / distance</a:t>
            </a:r>
            <a:endParaRPr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6601968" y="1828800"/>
            <a:ext cx="2560200" cy="12801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6784848" y="1965960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Publish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784848" y="2331720"/>
            <a:ext cx="2286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markers · people</a:t>
            </a:r>
            <a:b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annotated image</a:t>
            </a:r>
            <a:endParaRPr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9628626" y="1828800"/>
            <a:ext cx="2075700" cy="12801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9811511" y="1965960"/>
            <a:ext cx="228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Consume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9811512" y="2331720"/>
            <a:ext cx="2286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FSM selects target</a:t>
            </a:r>
            <a:b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and drive speed</a:t>
            </a:r>
            <a:endParaRPr sz="14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57200" y="3419856"/>
            <a:ext cx="11274600" cy="13899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658368" y="3566160"/>
            <a:ext cx="320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Marker assignments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58368" y="3913632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ID 0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481328" y="3913632"/>
            <a:ext cx="2560200" cy="27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Object / pickup target</a:t>
            </a:r>
            <a:endParaRPr sz="119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4315968" y="3913632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IDs 1–4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5138928" y="3913632"/>
            <a:ext cx="2560200" cy="27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Waypoints (in order)</a:t>
            </a:r>
            <a:endParaRPr sz="119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7973568" y="3913632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rPr>
              <a:t>ID 10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8796528" y="3913632"/>
            <a:ext cx="2560200" cy="27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sz="119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133434" y="2462536"/>
            <a:ext cx="470700" cy="27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6510480" y="2423128"/>
            <a:ext cx="91500" cy="915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9157896" y="2459574"/>
            <a:ext cx="470700" cy="273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9537105" y="2423128"/>
            <a:ext cx="91500" cy="91500"/>
          </a:xfrm>
          <a:prstGeom prst="rect">
            <a:avLst/>
          </a:prstGeom>
          <a:solidFill>
            <a:srgbClr val="4A728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REACTIVE SAFETY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ToF-triggered avoidance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457200" y="1170432"/>
            <a:ext cx="112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Safety overrides visual navigation when the forward distance drops below threshold.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ToF + avoidance  ·  COMPSCI-603 GP-D3  ·  6 / 12</a:t>
            </a:r>
            <a:endParaRPr>
              <a:solidFill>
                <a:srgbClr val="78B3CD"/>
              </a:solidFill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457200" y="1719072"/>
            <a:ext cx="3758100" cy="4480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640080" y="1883664"/>
            <a:ext cx="348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457200" y="2176272"/>
            <a:ext cx="3758100" cy="129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40080" y="2231136"/>
            <a:ext cx="3483900" cy="166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Person-motion states: UNKNOWN, MOVING, STATIONARY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Center-velocity tracker from detection package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500"/>
              </a:spcBef>
              <a:spcAft>
                <a:spcPts val="250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State gates which bypass action to take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261104" y="1719072"/>
            <a:ext cx="3758100" cy="4480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4443984" y="1883664"/>
            <a:ext cx="348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3838"/>
                </a:solidFill>
                <a:latin typeface="Calibri"/>
                <a:ea typeface="Calibri"/>
                <a:cs typeface="Calibri"/>
                <a:sym typeface="Calibri"/>
              </a:rPr>
              <a:t>Emergency layer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4261104" y="2176272"/>
            <a:ext cx="3758100" cy="129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443984" y="2231136"/>
            <a:ext cx="3483900" cy="166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ToF /range_0 has hard priority over visual navigation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Drops below 0.50 m → blocked; clears above 0.80 m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500"/>
              </a:spcBef>
              <a:spcAft>
                <a:spcPts val="250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Chassis stops; 3-nudge forward recovery before giving up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8065008" y="1719072"/>
            <a:ext cx="3758100" cy="44805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247888" y="1883664"/>
            <a:ext cx="348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8065008" y="2176272"/>
            <a:ext cx="3758100" cy="129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247888" y="2231136"/>
            <a:ext cx="3483900" cy="177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Strafe left or right to clear obstacle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Bypass timer + cooldown prevent thrash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Forward nudge checks clearance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b="0" i="0" lang="en-US" sz="13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rPr>
              <a:t>Resume saved FSM state on clear</a:t>
            </a:r>
            <a:endParaRPr b="0" i="0" sz="1300">
              <a:solidFill>
                <a:srgbClr val="A3CE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/>
        </p:nvSpPr>
        <p:spPr>
          <a:xfrm>
            <a:off x="457200" y="21945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BEHAVIOR LAYER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Task </a:t>
            </a:r>
            <a:r>
              <a:rPr b="1" i="0" lang="en-US" sz="32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Finite-state machine dia</a:t>
            </a: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gram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457200" y="1517904"/>
            <a:ext cx="11274552" cy="1463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FSM  ·  COMPSCI-603 GP-D3  ·  7 / 12</a:t>
            </a:r>
            <a:endParaRPr>
              <a:solidFill>
                <a:srgbClr val="78B3CD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457200" y="5568695"/>
            <a:ext cx="112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457200" y="6089904"/>
            <a:ext cx="112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2062984"/>
            <a:ext cx="11884150" cy="2825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/>
        </p:nvSpPr>
        <p:spPr>
          <a:xfrm>
            <a:off x="457200" y="219075"/>
            <a:ext cx="10972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b="1" sz="11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57200" y="457200"/>
            <a:ext cx="11239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Arm + gripper: pick, carry, place</a:t>
            </a:r>
            <a:endParaRPr b="1" sz="3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57200" y="1162050"/>
            <a:ext cx="11239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pick_up(): open → lower (x=0.15m, z=0.10m) → close → lift (x=0.09m, z=0.07m). place_down(): lower (x=0.18m, z=0.05m) → open → retract (x=0.09m, z=0.10m).</a:t>
            </a:r>
            <a:endParaRPr b="0" i="1" sz="15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000" u="none" cap="none" strike="noStrike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anipulation  ·  COMPSCI-603 GP-D3  ·  8 / 12</a:t>
            </a:r>
            <a:endParaRPr>
              <a:solidFill>
                <a:srgbClr val="78B3CD"/>
              </a:solidFill>
            </a:endParaRPr>
          </a:p>
        </p:txBody>
      </p:sp>
      <p:grpSp>
        <p:nvGrpSpPr>
          <p:cNvPr id="263" name="Google Shape;263;p20"/>
          <p:cNvGrpSpPr/>
          <p:nvPr/>
        </p:nvGrpSpPr>
        <p:grpSpPr>
          <a:xfrm>
            <a:off x="457200" y="2000250"/>
            <a:ext cx="2619300" cy="4000500"/>
            <a:chOff x="457200" y="2000250"/>
            <a:chExt cx="2619300" cy="4000500"/>
          </a:xfrm>
        </p:grpSpPr>
        <p:sp>
          <p:nvSpPr>
            <p:cNvPr id="264" name="Google Shape;264;p20"/>
            <p:cNvSpPr/>
            <p:nvPr/>
          </p:nvSpPr>
          <p:spPr>
            <a:xfrm>
              <a:off x="457200" y="200025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457200" y="200025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1E82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457200" y="200025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1. ALIGN</a:t>
              </a:r>
              <a:endParaRPr b="1" sz="18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0"/>
            <p:cNvSpPr txBox="1"/>
            <p:nvPr/>
          </p:nvSpPr>
          <p:spPr>
            <a:xfrm>
              <a:off x="647700" y="2619375"/>
              <a:ext cx="2238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Center on object marker before initiating pick or place.</a:t>
              </a:r>
              <a:endParaRPr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Visual servo adjusts x / y / yaw.</a:t>
              </a:r>
              <a:endParaRPr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>
            <a:off x="3267075" y="2000250"/>
            <a:ext cx="2619300" cy="4000500"/>
            <a:chOff x="3267075" y="2000250"/>
            <a:chExt cx="2619300" cy="4000500"/>
          </a:xfrm>
        </p:grpSpPr>
        <p:sp>
          <p:nvSpPr>
            <p:cNvPr id="269" name="Google Shape;269;p20"/>
            <p:cNvSpPr/>
            <p:nvPr/>
          </p:nvSpPr>
          <p:spPr>
            <a:xfrm>
              <a:off x="3267075" y="200025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3267075" y="200025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9E7C2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3267075" y="200025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E7C20"/>
                  </a:solidFill>
                  <a:latin typeface="Calibri"/>
                  <a:ea typeface="Calibri"/>
                  <a:cs typeface="Calibri"/>
                  <a:sym typeface="Calibri"/>
                </a:rPr>
                <a:t>2. GRASP</a:t>
              </a:r>
              <a:endParaRPr b="1" sz="1800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3457575" y="2619375"/>
              <a:ext cx="2238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MoveArm moves to pick pose.</a:t>
              </a:r>
              <a:endParaRPr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GripperControl closes on object.</a:t>
              </a:r>
              <a:endParaRPr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6076950" y="2000250"/>
            <a:ext cx="2619300" cy="4000500"/>
            <a:chOff x="6076950" y="2000250"/>
            <a:chExt cx="2619300" cy="4000500"/>
          </a:xfrm>
        </p:grpSpPr>
        <p:sp>
          <p:nvSpPr>
            <p:cNvPr id="274" name="Google Shape;274;p20"/>
            <p:cNvSpPr/>
            <p:nvPr/>
          </p:nvSpPr>
          <p:spPr>
            <a:xfrm>
              <a:off x="6076950" y="200025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6076950" y="200025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DDECF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6076950" y="200025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A3CEDD"/>
                  </a:solidFill>
                  <a:latin typeface="Calibri"/>
                  <a:ea typeface="Calibri"/>
                  <a:cs typeface="Calibri"/>
                  <a:sym typeface="Calibri"/>
                </a:rPr>
                <a:t>3. CARRY</a:t>
              </a:r>
              <a:endParaRPr b="1" sz="18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6267450" y="2619375"/>
              <a:ext cx="2238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Arm retracts to safe carry height.</a:t>
              </a:r>
              <a:endParaRPr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FSM transitions to NAVIGATE for waypoint following.</a:t>
              </a:r>
              <a:endParaRPr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20"/>
          <p:cNvGrpSpPr/>
          <p:nvPr/>
        </p:nvGrpSpPr>
        <p:grpSpPr>
          <a:xfrm>
            <a:off x="8886825" y="2000250"/>
            <a:ext cx="2619300" cy="4000500"/>
            <a:chOff x="8886825" y="2000250"/>
            <a:chExt cx="2619300" cy="4000500"/>
          </a:xfrm>
        </p:grpSpPr>
        <p:sp>
          <p:nvSpPr>
            <p:cNvPr id="279" name="Google Shape;279;p20"/>
            <p:cNvSpPr/>
            <p:nvPr/>
          </p:nvSpPr>
          <p:spPr>
            <a:xfrm>
              <a:off x="8886825" y="200025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8886825" y="200025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1E82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8886825" y="200025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4. PLACE</a:t>
              </a:r>
              <a:endParaRPr b="1" sz="18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9077325" y="2619375"/>
              <a:ext cx="2238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Approach destination marker, servo to alignment.</a:t>
              </a:r>
              <a:endParaRPr sz="14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Arm extends, gripper releases, robot backs away.</a:t>
              </a:r>
              <a:endParaRPr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1" sz="11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57200" y="457200"/>
            <a:ext cx="11247000" cy="58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Implementation snapshot</a:t>
            </a:r>
            <a:endParaRPr b="1" sz="32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57200" y="1170432"/>
            <a:ext cx="11247000" cy="32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A0C1D1"/>
                </a:solidFill>
                <a:latin typeface="Calibri"/>
                <a:ea typeface="Calibri"/>
                <a:cs typeface="Calibri"/>
                <a:sym typeface="Calibri"/>
              </a:rPr>
              <a:t>Core modules are done; physical tuning and repeatable eval runs remain.</a:t>
            </a:r>
            <a:endParaRPr b="0" i="1" sz="1500">
              <a:solidFill>
                <a:srgbClr val="A0C1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411480" y="6592824"/>
            <a:ext cx="11338500" cy="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5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Team / current status · COMPSCI-603 GP-D3 · 9 / 12</a:t>
            </a:r>
            <a:endParaRPr b="0" sz="925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457200" y="1714500"/>
            <a:ext cx="5429400" cy="44769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1E82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47700" y="1905000"/>
            <a:ext cx="5048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Completed ✓</a:t>
            </a:r>
            <a:endParaRPr b="1" sz="1800">
              <a:solidFill>
                <a:srgbClr val="22C5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647700" y="2333625"/>
            <a:ext cx="5048400" cy="144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47700" y="2476500"/>
            <a:ext cx="5048400" cy="228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ROS 2 Humble + robomaster_ros driver build path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ArUco / marker perception pipeline (vision.py)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Person tracking + EMA velocity classifier (people_avoidance.py)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ToF obstacle module + debounce logic (obstacle.py)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Chassis command module (chassis_control.py)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Arm / gripper action sequences (arm_control.py)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90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End-to-end FSM (main.py) with state-memory fix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6286500" y="1714500"/>
            <a:ext cx="5429400" cy="4476900"/>
          </a:xfrm>
          <a:prstGeom prst="rect">
            <a:avLst/>
          </a:prstGeom>
          <a:solidFill>
            <a:srgbClr val="12202E"/>
          </a:solidFill>
          <a:ln cap="flat" cmpd="sng" w="9525">
            <a:solidFill>
              <a:srgbClr val="9E7C2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6477000" y="1905000"/>
            <a:ext cx="5048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1" sz="18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6477000" y="2333625"/>
            <a:ext cx="5048400" cy="144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477000" y="2476500"/>
            <a:ext cx="5048400" cy="151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Physical integration: repeatable runs with markers + obstacles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35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Tuning pick / place marker distances and alignment thresholds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350"/>
              </a:spcBef>
              <a:spcAft>
                <a:spcPts val="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Validating ToF false-positive rate on the real floor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350"/>
              </a:spcBef>
              <a:spcAft>
                <a:spcPts val="1350"/>
              </a:spcAft>
              <a:buClr>
                <a:srgbClr val="F0FAFF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F0FAFF"/>
                </a:solidFill>
                <a:latin typeface="Calibri"/>
                <a:ea typeface="Calibri"/>
                <a:cs typeface="Calibri"/>
                <a:sym typeface="Calibri"/>
              </a:rPr>
              <a:t>Recording final demo trials for evaluation table</a:t>
            </a:r>
            <a:endParaRPr b="0" sz="1300">
              <a:solidFill>
                <a:srgbClr val="F0FA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Trackable metrics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457200" y="1170432"/>
            <a:ext cx="112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445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000" u="none" cap="none" strike="noStrike">
                <a:solidFill>
                  <a:srgbClr val="224458"/>
                </a:solidFill>
                <a:latin typeface="Calibri"/>
                <a:ea typeface="Calibri"/>
                <a:cs typeface="Calibri"/>
                <a:sym typeface="Calibri"/>
              </a:rPr>
              <a:t>valuation  ·  COMPSCI-603 GP-D3  ·  10 / 12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457200" y="1773936"/>
            <a:ext cx="11274600" cy="621900"/>
          </a:xfrm>
          <a:prstGeom prst="rect">
            <a:avLst/>
          </a:prstGeom>
          <a:solidFill>
            <a:srgbClr val="1220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640080" y="1883664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Task success rate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4114800" y="1883664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% of trials completing pick → waypoints → place without reset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57200" y="2395728"/>
            <a:ext cx="11274600" cy="621900"/>
          </a:xfrm>
          <a:prstGeom prst="rect">
            <a:avLst/>
          </a:prstGeom>
          <a:solidFill>
            <a:srgbClr val="0D15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640080" y="2505456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Collision / E-stop count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4114800" y="2505456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Physical contacts and emergency stops per run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57200" y="3017520"/>
            <a:ext cx="11274600" cy="621900"/>
          </a:xfrm>
          <a:prstGeom prst="rect">
            <a:avLst/>
          </a:prstGeom>
          <a:solidFill>
            <a:srgbClr val="1220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640080" y="3127248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Completion time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4114800" y="3127248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Full circuit time compared to clean baseline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457200" y="3639312"/>
            <a:ext cx="11274600" cy="621900"/>
          </a:xfrm>
          <a:prstGeom prst="rect">
            <a:avLst/>
          </a:prstGeom>
          <a:solidFill>
            <a:srgbClr val="0D15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640080" y="3749039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Marker detection rate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4114800" y="3749040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Detection reliability under varied lighting and angles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57200" y="4261104"/>
            <a:ext cx="11274600" cy="621900"/>
          </a:xfrm>
          <a:prstGeom prst="rect">
            <a:avLst/>
          </a:prstGeom>
          <a:solidFill>
            <a:srgbClr val="1220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640080" y="4370832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Avoidance recovery rate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4114800" y="4370832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Successful ToF bypass events / total obstacle encounters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57200" y="4882896"/>
            <a:ext cx="11274600" cy="621900"/>
          </a:xfrm>
          <a:prstGeom prst="rect">
            <a:avLst/>
          </a:prstGeom>
          <a:solidFill>
            <a:srgbClr val="0D15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640080" y="4992624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Manual interventions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4114800" y="4992624"/>
            <a:ext cx="7406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Operator resets required per trial</a:t>
            </a:r>
            <a:endParaRPr b="0" sz="14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457200" y="5632704"/>
            <a:ext cx="112746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Test cases: clear path · static obstacle · person crossing · marker temporarily lost · pick / place alignment variation</a:t>
            </a:r>
            <a:endParaRPr b="0" i="1" sz="13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 txBox="1"/>
          <p:nvPr/>
        </p:nvSpPr>
        <p:spPr>
          <a:xfrm>
            <a:off x="457200" y="219456"/>
            <a:ext cx="109728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1" sz="11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Workload split</a:t>
            </a:r>
            <a:endParaRPr b="1" sz="32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457200" y="1517904"/>
            <a:ext cx="11274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24458"/>
                </a:solidFill>
                <a:latin typeface="Calibri"/>
                <a:ea typeface="Calibri"/>
                <a:cs typeface="Calibri"/>
                <a:sym typeface="Calibri"/>
              </a:rPr>
              <a:t>All members  ·  COMPSCI-603 GP-D3  ·  11 / 12</a:t>
            </a:r>
            <a:endParaRPr/>
          </a:p>
        </p:txBody>
      </p:sp>
      <p:grpSp>
        <p:nvGrpSpPr>
          <p:cNvPr id="339" name="Google Shape;339;p23"/>
          <p:cNvGrpSpPr/>
          <p:nvPr/>
        </p:nvGrpSpPr>
        <p:grpSpPr>
          <a:xfrm>
            <a:off x="457200" y="1714500"/>
            <a:ext cx="2619300" cy="4000500"/>
            <a:chOff x="457200" y="1714500"/>
            <a:chExt cx="2619300" cy="4000500"/>
          </a:xfrm>
        </p:grpSpPr>
        <p:sp>
          <p:nvSpPr>
            <p:cNvPr id="340" name="Google Shape;340;p23"/>
            <p:cNvSpPr/>
            <p:nvPr/>
          </p:nvSpPr>
          <p:spPr>
            <a:xfrm>
              <a:off x="457200" y="171450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457200" y="171450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1E82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 txBox="1"/>
            <p:nvPr/>
          </p:nvSpPr>
          <p:spPr>
            <a:xfrm>
              <a:off x="457200" y="171450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Jeet Patel</a:t>
              </a:r>
              <a:endParaRPr b="1"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3"/>
            <p:cNvSpPr txBox="1"/>
            <p:nvPr/>
          </p:nvSpPr>
          <p:spPr>
            <a:xfrm>
              <a:off x="600075" y="2333625"/>
              <a:ext cx="2333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VLA / action-generation framing</a:t>
              </a:r>
              <a:endParaRPr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Command smoothing and control interface</a:t>
              </a:r>
              <a:endParaRPr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1338263" y="4619625"/>
              <a:ext cx="857400" cy="857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57150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5" name="Google Shape;34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6888" y="45910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3"/>
            <p:cNvSpPr txBox="1"/>
            <p:nvPr/>
          </p:nvSpPr>
          <p:spPr>
            <a:xfrm>
              <a:off x="1385888" y="4810125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 b="1" sz="20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3"/>
          <p:cNvGrpSpPr/>
          <p:nvPr/>
        </p:nvGrpSpPr>
        <p:grpSpPr>
          <a:xfrm>
            <a:off x="3314700" y="1714500"/>
            <a:ext cx="2619300" cy="4000500"/>
            <a:chOff x="3314700" y="1714500"/>
            <a:chExt cx="2619300" cy="4000500"/>
          </a:xfrm>
        </p:grpSpPr>
        <p:sp>
          <p:nvSpPr>
            <p:cNvPr id="348" name="Google Shape;348;p23"/>
            <p:cNvSpPr/>
            <p:nvPr/>
          </p:nvSpPr>
          <p:spPr>
            <a:xfrm>
              <a:off x="3314700" y="171450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3314700" y="171450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1E82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3314700" y="171450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Linfeng Lyu</a:t>
              </a:r>
              <a:endParaRPr b="1"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3457575" y="2333625"/>
              <a:ext cx="2333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Visual marker / perception pipeline/arm / gripper</a:t>
              </a:r>
              <a:endParaRPr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Camera detections and target pose</a:t>
              </a:r>
              <a:endParaRPr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4195763" y="4619625"/>
              <a:ext cx="857400" cy="857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57150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3" name="Google Shape;35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24388" y="45910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23"/>
            <p:cNvSpPr txBox="1"/>
            <p:nvPr/>
          </p:nvSpPr>
          <p:spPr>
            <a:xfrm>
              <a:off x="4243388" y="4810125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 b="1" sz="20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23"/>
          <p:cNvGrpSpPr/>
          <p:nvPr/>
        </p:nvGrpSpPr>
        <p:grpSpPr>
          <a:xfrm>
            <a:off x="6172200" y="1714500"/>
            <a:ext cx="2619300" cy="4000500"/>
            <a:chOff x="6172200" y="1714500"/>
            <a:chExt cx="2619300" cy="4000500"/>
          </a:xfrm>
        </p:grpSpPr>
        <p:sp>
          <p:nvSpPr>
            <p:cNvPr id="356" name="Google Shape;356;p23"/>
            <p:cNvSpPr/>
            <p:nvPr/>
          </p:nvSpPr>
          <p:spPr>
            <a:xfrm>
              <a:off x="6172200" y="1714500"/>
              <a:ext cx="2619300" cy="4000500"/>
            </a:xfrm>
            <a:prstGeom prst="roundRect">
              <a:avLst>
                <a:gd fmla="val 2909" name="adj"/>
              </a:avLst>
            </a:prstGeom>
            <a:solidFill>
              <a:srgbClr val="12202E"/>
            </a:solidFill>
            <a:ln cap="flat" cmpd="sng" w="9525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6172200" y="1714500"/>
              <a:ext cx="2619300" cy="476400"/>
            </a:xfrm>
            <a:prstGeom prst="roundRect">
              <a:avLst>
                <a:gd fmla="val 16000" name="adj"/>
              </a:avLst>
            </a:prstGeom>
            <a:solidFill>
              <a:srgbClr val="1E82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3"/>
            <p:cNvSpPr txBox="1"/>
            <p:nvPr/>
          </p:nvSpPr>
          <p:spPr>
            <a:xfrm>
              <a:off x="6172200" y="1714500"/>
              <a:ext cx="2619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Piyush Maheshwari</a:t>
              </a:r>
              <a:endParaRPr b="1"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3"/>
            <p:cNvSpPr txBox="1"/>
            <p:nvPr/>
          </p:nvSpPr>
          <p:spPr>
            <a:xfrm>
              <a:off x="6315075" y="2333625"/>
              <a:ext cx="2333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RoboMaster hardware integration</a:t>
              </a:r>
              <a:endParaRPr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8B3CD"/>
                  </a:solidFill>
                  <a:latin typeface="Calibri"/>
                  <a:ea typeface="Calibri"/>
                  <a:cs typeface="Calibri"/>
                  <a:sym typeface="Calibri"/>
                </a:rPr>
                <a:t>ToF obstacle processing and avoidance</a:t>
              </a:r>
              <a:endParaRPr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7053263" y="4619625"/>
              <a:ext cx="857400" cy="857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57150">
              <a:solidFill>
                <a:srgbClr val="183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1" name="Google Shape;36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81888" y="45910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23"/>
            <p:cNvSpPr txBox="1"/>
            <p:nvPr/>
          </p:nvSpPr>
          <p:spPr>
            <a:xfrm>
              <a:off x="7100888" y="4810125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 b="1" sz="20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23"/>
          <p:cNvSpPr/>
          <p:nvPr/>
        </p:nvSpPr>
        <p:spPr>
          <a:xfrm>
            <a:off x="9029700" y="1714500"/>
            <a:ext cx="2619300" cy="4000500"/>
          </a:xfrm>
          <a:prstGeom prst="roundRect">
            <a:avLst>
              <a:gd fmla="val 2909" name="adj"/>
            </a:avLst>
          </a:prstGeom>
          <a:solidFill>
            <a:srgbClr val="12202E"/>
          </a:solidFill>
          <a:ln cap="flat" cmpd="sng" w="9525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9029700" y="1714500"/>
            <a:ext cx="2619300" cy="476400"/>
          </a:xfrm>
          <a:prstGeom prst="roundRect">
            <a:avLst>
              <a:gd fmla="val 16000" name="adj"/>
            </a:avLst>
          </a:prstGeom>
          <a:solidFill>
            <a:srgbClr val="1E8298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9029700" y="1714500"/>
            <a:ext cx="2619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Shivraj Bhatti</a:t>
            </a:r>
            <a:endParaRPr b="1" sz="16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9172575" y="2333625"/>
            <a:ext cx="2333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FSM, TF / control logic</a:t>
            </a:r>
            <a:endParaRPr sz="1300">
              <a:solidFill>
                <a:srgbClr val="DDE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Experiments, metrics, final demo coord.</a:t>
            </a:r>
            <a:endParaRPr sz="1300">
              <a:solidFill>
                <a:srgbClr val="78B3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9910763" y="4619625"/>
            <a:ext cx="857400" cy="8574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57150">
            <a:solidFill>
              <a:srgbClr val="18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9958388" y="4810125"/>
            <a:ext cx="76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1" sz="20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457200" y="5980176"/>
            <a:ext cx="112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0963" y="45787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/>
          <p:nvPr/>
        </p:nvSpPr>
        <p:spPr>
          <a:xfrm>
            <a:off x="0" y="0"/>
            <a:ext cx="12189000" cy="54900"/>
          </a:xfrm>
          <a:prstGeom prst="rect">
            <a:avLst/>
          </a:prstGeom>
          <a:solidFill>
            <a:srgbClr val="1E82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" name="Google Shape;376;p24"/>
          <p:cNvGrpSpPr/>
          <p:nvPr/>
        </p:nvGrpSpPr>
        <p:grpSpPr>
          <a:xfrm>
            <a:off x="762000" y="2286000"/>
            <a:ext cx="3429000" cy="2286000"/>
            <a:chOff x="762000" y="2286000"/>
            <a:chExt cx="3429000" cy="2286000"/>
          </a:xfrm>
        </p:grpSpPr>
        <p:sp>
          <p:nvSpPr>
            <p:cNvPr id="377" name="Google Shape;377;p24"/>
            <p:cNvSpPr/>
            <p:nvPr/>
          </p:nvSpPr>
          <p:spPr>
            <a:xfrm>
              <a:off x="762000" y="2286000"/>
              <a:ext cx="3429000" cy="2286000"/>
            </a:xfrm>
            <a:prstGeom prst="roundRect">
              <a:avLst>
                <a:gd fmla="val 5000" name="adj"/>
              </a:avLst>
            </a:prstGeom>
            <a:solidFill>
              <a:srgbClr val="12202E"/>
            </a:solidFill>
            <a:ln cap="flat" cmpd="sng" w="9525">
              <a:solidFill>
                <a:srgbClr val="1E82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4"/>
            <p:cNvSpPr txBox="1"/>
            <p:nvPr/>
          </p:nvSpPr>
          <p:spPr>
            <a:xfrm>
              <a:off x="952500" y="24765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E8298"/>
                  </a:solidFill>
                  <a:latin typeface="Calibri"/>
                  <a:ea typeface="Calibri"/>
                  <a:cs typeface="Calibri"/>
                  <a:sym typeface="Calibri"/>
                </a:rPr>
                <a:t>Perceive</a:t>
              </a:r>
              <a:endParaRPr b="1" sz="22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ArUco markers + ToF distance checks</a:t>
              </a:r>
              <a:endParaRPr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4A7286"/>
                  </a:solidFill>
                  <a:latin typeface="Calibri"/>
                  <a:ea typeface="Calibri"/>
                  <a:cs typeface="Calibri"/>
                  <a:sym typeface="Calibri"/>
                </a:rPr>
                <a:t>Sensing the environment through visual markers and time-of-flight sensors.</a:t>
              </a:r>
              <a:endParaRPr i="1" sz="12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4"/>
          <p:cNvSpPr txBox="1"/>
          <p:nvPr/>
        </p:nvSpPr>
        <p:spPr>
          <a:xfrm>
            <a:off x="548640" y="256032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/>
          </a:p>
        </p:txBody>
      </p:sp>
      <p:grpSp>
        <p:nvGrpSpPr>
          <p:cNvPr id="380" name="Google Shape;380;p24"/>
          <p:cNvGrpSpPr/>
          <p:nvPr/>
        </p:nvGrpSpPr>
        <p:grpSpPr>
          <a:xfrm>
            <a:off x="4381500" y="2286000"/>
            <a:ext cx="3429000" cy="2286000"/>
            <a:chOff x="4381500" y="2286000"/>
            <a:chExt cx="3429000" cy="2286000"/>
          </a:xfrm>
        </p:grpSpPr>
        <p:sp>
          <p:nvSpPr>
            <p:cNvPr id="381" name="Google Shape;381;p24"/>
            <p:cNvSpPr/>
            <p:nvPr/>
          </p:nvSpPr>
          <p:spPr>
            <a:xfrm>
              <a:off x="4381500" y="2286000"/>
              <a:ext cx="3429000" cy="2286000"/>
            </a:xfrm>
            <a:prstGeom prst="roundRect">
              <a:avLst>
                <a:gd fmla="val 5000" name="adj"/>
              </a:avLst>
            </a:prstGeom>
            <a:solidFill>
              <a:srgbClr val="12202E"/>
            </a:solidFill>
            <a:ln cap="flat" cmpd="sng" w="9525">
              <a:solidFill>
                <a:srgbClr val="9E7C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4"/>
            <p:cNvSpPr txBox="1"/>
            <p:nvPr/>
          </p:nvSpPr>
          <p:spPr>
            <a:xfrm>
              <a:off x="4572000" y="24765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9E7C20"/>
                  </a:solidFill>
                  <a:latin typeface="Calibri"/>
                  <a:ea typeface="Calibri"/>
                  <a:cs typeface="Calibri"/>
                  <a:sym typeface="Calibri"/>
                </a:rPr>
                <a:t>Decide</a:t>
              </a:r>
              <a:endParaRPr b="1" sz="2200">
                <a:solidFill>
                  <a:srgbClr val="9E7C2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Explicit FSM + safety state overrides</a:t>
              </a:r>
              <a:endParaRPr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4A7286"/>
                  </a:solidFill>
                  <a:latin typeface="Calibri"/>
                  <a:ea typeface="Calibri"/>
                  <a:cs typeface="Calibri"/>
                  <a:sym typeface="Calibri"/>
                </a:rPr>
                <a:t>Processing sensor data through a Finite State Machine with safety logic.</a:t>
              </a:r>
              <a:endParaRPr i="1" sz="12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24"/>
          <p:cNvSpPr txBox="1"/>
          <p:nvPr/>
        </p:nvSpPr>
        <p:spPr>
          <a:xfrm>
            <a:off x="548640" y="548640"/>
            <a:ext cx="11338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Local-reactive autonomy for</a:t>
            </a:r>
            <a:br>
              <a:rPr b="1" i="0" lang="en-US" sz="40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rPr>
              <a:t>manipulation robot</a:t>
            </a:r>
            <a:endParaRPr/>
          </a:p>
        </p:txBody>
      </p:sp>
      <p:grpSp>
        <p:nvGrpSpPr>
          <p:cNvPr id="384" name="Google Shape;384;p24"/>
          <p:cNvGrpSpPr/>
          <p:nvPr/>
        </p:nvGrpSpPr>
        <p:grpSpPr>
          <a:xfrm>
            <a:off x="8001000" y="2286000"/>
            <a:ext cx="3429000" cy="2286000"/>
            <a:chOff x="8001000" y="2286000"/>
            <a:chExt cx="3429000" cy="2286000"/>
          </a:xfrm>
        </p:grpSpPr>
        <p:sp>
          <p:nvSpPr>
            <p:cNvPr id="385" name="Google Shape;385;p24"/>
            <p:cNvSpPr/>
            <p:nvPr/>
          </p:nvSpPr>
          <p:spPr>
            <a:xfrm>
              <a:off x="8001000" y="2286000"/>
              <a:ext cx="3429000" cy="2286000"/>
            </a:xfrm>
            <a:prstGeom prst="roundRect">
              <a:avLst>
                <a:gd fmla="val 5000" name="adj"/>
              </a:avLst>
            </a:prstGeom>
            <a:solidFill>
              <a:srgbClr val="12202E"/>
            </a:solidFill>
            <a:ln cap="flat" cmpd="sng" w="9525">
              <a:solidFill>
                <a:srgbClr val="A3CE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4"/>
            <p:cNvSpPr txBox="1"/>
            <p:nvPr/>
          </p:nvSpPr>
          <p:spPr>
            <a:xfrm>
              <a:off x="8191500" y="2476500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A3CEDD"/>
                  </a:solidFill>
                  <a:latin typeface="Calibri"/>
                  <a:ea typeface="Calibri"/>
                  <a:cs typeface="Calibri"/>
                  <a:sym typeface="Calibri"/>
                </a:rPr>
                <a:t>Act</a:t>
              </a:r>
              <a:endParaRPr b="1" sz="2200">
                <a:solidFill>
                  <a:srgbClr val="A3CED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DDECF0"/>
                  </a:solidFill>
                  <a:latin typeface="Calibri"/>
                  <a:ea typeface="Calibri"/>
                  <a:cs typeface="Calibri"/>
                  <a:sym typeface="Calibri"/>
                </a:rPr>
                <a:t>Chassis velocity + arm / gripper actions</a:t>
              </a:r>
              <a:endParaRPr sz="1600">
                <a:solidFill>
                  <a:srgbClr val="DDE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4A7286"/>
                  </a:solidFill>
                  <a:latin typeface="Calibri"/>
                  <a:ea typeface="Calibri"/>
                  <a:cs typeface="Calibri"/>
                  <a:sym typeface="Calibri"/>
                </a:rPr>
                <a:t>Executing physical movements and manipulation tasks on hardware.</a:t>
              </a:r>
              <a:endParaRPr i="1" sz="12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24"/>
          <p:cNvSpPr/>
          <p:nvPr/>
        </p:nvSpPr>
        <p:spPr>
          <a:xfrm>
            <a:off x="548640" y="1810512"/>
            <a:ext cx="10698600" cy="147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548640" y="1920240"/>
            <a:ext cx="106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1" lang="en-US" sz="1700" u="none" cap="none" strike="noStrike">
                <a:solidFill>
                  <a:srgbClr val="4A7286"/>
                </a:solidFill>
                <a:latin typeface="Calibri"/>
                <a:ea typeface="Calibri"/>
                <a:cs typeface="Calibri"/>
                <a:sym typeface="Calibri"/>
              </a:rPr>
              <a:t>isible markers, ToF safety, and explicit task states to complete a physical pick-and-transport workflow on real hardware.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609600" y="4953000"/>
            <a:ext cx="109728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>
                <a:solidFill>
                  <a:srgbClr val="1E8298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1" i="0" sz="6400">
              <a:solidFill>
                <a:srgbClr val="1E82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0" y="6556248"/>
            <a:ext cx="12189000" cy="18300"/>
          </a:xfrm>
          <a:prstGeom prst="rect">
            <a:avLst/>
          </a:prstGeom>
          <a:solidFill>
            <a:srgbClr val="183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411480" y="6592824"/>
            <a:ext cx="1133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8B3CD"/>
                </a:solidFill>
                <a:latin typeface="Calibri"/>
                <a:ea typeface="Calibri"/>
                <a:cs typeface="Calibri"/>
                <a:sym typeface="Calibri"/>
              </a:rPr>
              <a:t>Team close  ·  COMPSCI-603 GP-D3  ·  12 / 12</a:t>
            </a:r>
            <a:endParaRPr>
              <a:solidFill>
                <a:srgbClr val="78B3C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